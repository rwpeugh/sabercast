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aseball_diamo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208025"/>
            <a:ext cx="2834640" cy="2692908"/>
          </a:xfrm>
          <a:prstGeom prst="rect">
            <a:avLst/>
          </a:prstGeom>
        </p:spPr>
      </p:pic>
      <p:pic>
        <p:nvPicPr>
          <p:cNvPr id="4" name="Picture 3" descr="seam_st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" y="182880"/>
            <a:ext cx="365760" cy="6492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274320"/>
            <a:ext cx="822960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4200" b="1" i="0">
                <a:solidFill>
                  <a:srgbClr val="102A55"/>
                </a:solidFill>
                <a:latin typeface="Calibri"/>
              </a:rPr>
              <a:t>Sabercast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005840"/>
            <a:ext cx="10058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500" b="1" i="0">
                <a:solidFill>
                  <a:srgbClr val="334455"/>
                </a:solidFill>
                <a:latin typeface="Calibri"/>
              </a:rPr>
              <a:t>From roster gaps to ranked free-agent targets — in 13 seconds.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98448"/>
            <a:ext cx="10058400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150" b="0" i="1">
                <a:solidFill>
                  <a:srgbClr val="667080"/>
                </a:solidFill>
                <a:latin typeface="Calibri"/>
              </a:rPr>
              <a:t>Plus lineup planning and series scouting. Built for small / mid-market MLB front offices needing analyst leverage without a 20-person R&amp;D shop.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627632"/>
            <a:ext cx="10835640" cy="22860"/>
          </a:xfrm>
          <a:prstGeom prst="rect">
            <a:avLst/>
          </a:prstGeom>
          <a:solidFill>
            <a:srgbClr val="3A82C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13 sec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Gap diagnosis to targets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12 LLM calls parallelized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043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4043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+70pp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4043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RAG accuracy lift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4043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20 Qs · McNemar p=0.0005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506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9506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3.1×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506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Precision@10 lift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506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n=43 · p&lt;0.0001 · finds signings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49690" y="1783080"/>
            <a:ext cx="2571750" cy="1051560"/>
          </a:xfrm>
          <a:prstGeom prst="roundRect">
            <a:avLst>
              <a:gd name="adj" fmla="val 10000"/>
            </a:avLst>
          </a:prstGeom>
          <a:solidFill>
            <a:srgbClr val="E8F4EA"/>
          </a:solidFill>
          <a:ln w="9525">
            <a:solidFill>
              <a:srgbClr val="2E86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49690" y="1874519"/>
            <a:ext cx="2571750" cy="502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2800" b="1" i="0">
                <a:solidFill>
                  <a:srgbClr val="2E863E"/>
                </a:solidFill>
                <a:latin typeface="Calibri"/>
              </a:rPr>
              <a:t>59.9%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9690" y="2386584"/>
            <a:ext cx="257175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00" b="1" i="0">
                <a:solidFill>
                  <a:srgbClr val="334455"/>
                </a:solidFill>
                <a:latin typeface="Calibri"/>
              </a:rPr>
              <a:t>Position-gap hit 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9690" y="2587752"/>
            <a:ext cx="257175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0" i="1">
                <a:solidFill>
                  <a:srgbClr val="667080"/>
                </a:solidFill>
                <a:latin typeface="Calibri"/>
              </a:rPr>
              <a:t>p=0.012 · 2B 74% (p=0.011)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9224" y="3026664"/>
            <a:ext cx="6885432" cy="2313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3A82C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3_top_gap_card_with_candidat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1207" y="3063240"/>
            <a:ext cx="3301465" cy="224028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85800" y="5349240"/>
            <a:ext cx="6812280" cy="20116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900" b="0" i="1">
                <a:solidFill>
                  <a:srgbClr val="667080"/>
                </a:solidFill>
                <a:latin typeface="Calibri"/>
              </a:rPr>
              <a:t>Position gap diagnosed  ·  3 free-agent targets ranked  ·  3 pricing comparables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3063240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THREE GM-OFFICE JOBS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79" y="3310128"/>
            <a:ext cx="37947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Plan tonight's lineup vs. the opponent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Scout the team you're facing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• Diagnose roster gaps + rank FA targets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26679" y="3977639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DATA + LLM STACK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4224528"/>
            <a:ext cx="379476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pybaseball · Spotrac · Statcast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gpt-4o + 4o-mini · text-embed-3</a:t>
            </a:r>
          </a:p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ChromaDB RAG (999 players)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892040"/>
            <a:ext cx="379476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50" b="1" i="0">
                <a:solidFill>
                  <a:srgbClr val="3A82CD"/>
                </a:solidFill>
                <a:latin typeface="Calibri"/>
              </a:rPr>
              <a:t>BUILD ECONOMICS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26679" y="5138928"/>
            <a:ext cx="37947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0" i="0">
                <a:solidFill>
                  <a:srgbClr val="334455"/>
                </a:solidFill>
                <a:latin typeface="Calibri"/>
              </a:rPr>
              <a:t>9-day build  ·  ~$47 platform spend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" y="5623560"/>
            <a:ext cx="10835640" cy="22860"/>
          </a:xfrm>
          <a:prstGeom prst="rect">
            <a:avLst/>
          </a:prstGeom>
          <a:solidFill>
            <a:srgbClr val="102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5715000"/>
            <a:ext cx="64008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1" i="0">
                <a:solidFill>
                  <a:srgbClr val="102A55"/>
                </a:solidFill>
                <a:latin typeface="Calibri"/>
              </a:rPr>
              <a:t>Decision-support tool — not a wins forecaster.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0" y="5733288"/>
            <a:ext cx="51206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000" b="0" i="1">
                <a:solidFill>
                  <a:srgbClr val="667080"/>
                </a:solidFill>
                <a:latin typeface="Calibri"/>
              </a:rPr>
              <a:t>10 pre-registered tests  ·  4 significant  ·  5 honest nulls reported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35427" y="6126480"/>
            <a:ext cx="1051560" cy="36576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ctr"/>
            <a:r>
              <a:rPr sz="1100" b="1" i="0">
                <a:solidFill>
                  <a:srgbClr val="102A55"/>
                </a:solidFill>
                <a:latin typeface="Calibri"/>
              </a:rPr>
              <a:t>Powered by</a:t>
            </a:r>
          </a:p>
        </p:txBody>
      </p:sp>
      <p:pic>
        <p:nvPicPr>
          <p:cNvPr id="38" name="Picture 37" descr="openai.p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5627" y="6126480"/>
            <a:ext cx="365760" cy="365760"/>
          </a:xfrm>
          <a:prstGeom prst="rect">
            <a:avLst/>
          </a:prstGeom>
        </p:spPr>
      </p:pic>
      <p:pic>
        <p:nvPicPr>
          <p:cNvPr id="39" name="Picture 38" descr="together_ai.png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32907" y="6126480"/>
            <a:ext cx="365760" cy="365760"/>
          </a:xfrm>
          <a:prstGeom prst="rect">
            <a:avLst/>
          </a:prstGeom>
        </p:spPr>
      </p:pic>
      <p:pic>
        <p:nvPicPr>
          <p:cNvPr id="40" name="Picture 39" descr="chromad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1607" y="6126480"/>
            <a:ext cx="365760" cy="365760"/>
          </a:xfrm>
          <a:prstGeom prst="rect">
            <a:avLst/>
          </a:prstGeom>
        </p:spPr>
      </p:pic>
      <p:pic>
        <p:nvPicPr>
          <p:cNvPr id="41" name="Picture 40" descr="streamlit.png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21727" y="6126480"/>
            <a:ext cx="365760" cy="365760"/>
          </a:xfrm>
          <a:prstGeom prst="rect">
            <a:avLst/>
          </a:prstGeom>
        </p:spPr>
      </p:pic>
      <p:pic>
        <p:nvPicPr>
          <p:cNvPr id="42" name="Picture 41" descr="Baseball_Reference_Logo.sv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7547" y="6204108"/>
            <a:ext cx="1188720" cy="210502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685800" y="6537960"/>
            <a:ext cx="10835640" cy="13716"/>
          </a:xfrm>
          <a:prstGeom prst="rect">
            <a:avLst/>
          </a:prstGeom>
          <a:solidFill>
            <a:srgbClr val="667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5800" y="6583680"/>
            <a:ext cx="50292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000" b="1" i="0">
                <a:solidFill>
                  <a:srgbClr val="102A55"/>
                </a:solidFill>
                <a:latin typeface="Calibri"/>
              </a:rPr>
              <a:t>Try the live app  ·  sabercast-mlb.streamlit.app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0" y="6583680"/>
            <a:ext cx="228600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00" b="0" i="1">
                <a:solidFill>
                  <a:srgbClr val="667080"/>
                </a:solidFill>
                <a:latin typeface="Calibri"/>
              </a:rPr>
              <a:t>MKTG 569  ·  Spring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0" y="6583680"/>
            <a:ext cx="4663440" cy="228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1000" b="1" i="0">
                <a:solidFill>
                  <a:srgbClr val="102A55"/>
                </a:solidFill>
                <a:latin typeface="Calibri"/>
              </a:rPr>
              <a:t>github.com/rwpeugh/sabercast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