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5943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4200" b="1">
                <a:solidFill>
                  <a:srgbClr val="102A55"/>
                </a:solidFill>
                <a:latin typeface="Calibri"/>
              </a:rPr>
              <a:t>Sabercast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4300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334455"/>
                </a:solidFill>
                <a:latin typeface="Calibri"/>
              </a:rPr>
              <a:t>LLM-powered MLB front-office intelligence — built for small / mid-market clubs that need analyst leverage without a 20-person R&amp;D shop.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08760"/>
            <a:ext cx="11277295" cy="22860"/>
          </a:xfrm>
          <a:prstGeom prst="rect">
            <a:avLst/>
          </a:prstGeom>
          <a:solidFill>
            <a:srgbClr val="3A82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783080"/>
            <a:ext cx="3703320" cy="54864"/>
          </a:xfrm>
          <a:prstGeom prst="rect">
            <a:avLst/>
          </a:prstGeom>
          <a:solidFill>
            <a:srgbClr val="3A82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856231"/>
            <a:ext cx="37033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3A82CD"/>
                </a:solidFill>
                <a:latin typeface="Calibri"/>
              </a:rPr>
              <a:t>WHAT — three front-office workflows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86000"/>
            <a:ext cx="3703320" cy="34290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334455"/>
                </a:solidFill>
                <a:latin typeface="Calibri"/>
              </a:rPr>
              <a:t>1.  Roster Builder</a:t>
            </a:r>
          </a:p>
          <a:p>
            <a:pPr algn="l"/>
            <a:r>
              <a:rPr sz="1200" b="0">
                <a:solidFill>
                  <a:srgbClr val="334455"/>
                </a:solidFill>
                <a:latin typeface="Calibri"/>
              </a:rPr>
              <a:t>     Day-to-day lineup construction vs. a chosen opponent.</a:t>
            </a:r>
          </a:p>
          <a:p>
            <a:pPr algn="l"/>
            <a:r>
              <a:rPr sz="1200" b="0">
                <a:solidFill>
                  <a:srgbClr val="334455"/>
                </a:solidFill>
                <a:latin typeface="Calibri"/>
              </a:rPr>
              <a:t>     One gpt-4o call → 9-slot lineup + matchup notes.</a:t>
            </a:r>
          </a:p>
          <a:p>
            <a:pPr algn="l"/>
            <a:r>
              <a:rPr sz="1200" b="0">
                <a:solidFill>
                  <a:srgbClr val="334455"/>
                </a:solidFill>
                <a:latin typeface="Calibri"/>
              </a:rPr>
              <a:t/>
            </a:r>
          </a:p>
          <a:p>
            <a:pPr algn="l"/>
            <a:r>
              <a:rPr sz="1200" b="0">
                <a:solidFill>
                  <a:srgbClr val="334455"/>
                </a:solidFill>
                <a:latin typeface="Calibri"/>
              </a:rPr>
              <a:t>2.  Opponent Scouting</a:t>
            </a:r>
          </a:p>
          <a:p>
            <a:pPr algn="l"/>
            <a:r>
              <a:rPr sz="1200" b="0">
                <a:solidFill>
                  <a:srgbClr val="334455"/>
                </a:solidFill>
                <a:latin typeface="Calibri"/>
              </a:rPr>
              <a:t>     Narrative summary + top-3 threats + exploitable</a:t>
            </a:r>
          </a:p>
          <a:p>
            <a:pPr algn="l"/>
            <a:r>
              <a:rPr sz="1200" b="0">
                <a:solidFill>
                  <a:srgbClr val="334455"/>
                </a:solidFill>
                <a:latin typeface="Calibri"/>
              </a:rPr>
              <a:t>     weaknesses + pitching/hitting strategy.</a:t>
            </a:r>
          </a:p>
          <a:p>
            <a:pPr algn="l"/>
            <a:r>
              <a:rPr sz="1200" b="0">
                <a:solidFill>
                  <a:srgbClr val="334455"/>
                </a:solidFill>
                <a:latin typeface="Calibri"/>
              </a:rPr>
              <a:t/>
            </a:r>
          </a:p>
          <a:p>
            <a:pPr algn="l"/>
            <a:r>
              <a:rPr sz="1200" b="0">
                <a:solidFill>
                  <a:srgbClr val="334455"/>
                </a:solidFill>
                <a:latin typeface="Calibri"/>
              </a:rPr>
              <a:t>3.  Gap Filler</a:t>
            </a:r>
          </a:p>
          <a:p>
            <a:pPr algn="l"/>
            <a:r>
              <a:rPr sz="1200" b="0">
                <a:solidFill>
                  <a:srgbClr val="334455"/>
                </a:solidFill>
                <a:latin typeface="Calibri"/>
              </a:rPr>
              <a:t>     Top-3 roster gaps + position-matched candidate targets</a:t>
            </a:r>
          </a:p>
          <a:p>
            <a:pPr algn="l"/>
            <a:r>
              <a:rPr sz="1200" b="0">
                <a:solidFill>
                  <a:srgbClr val="334455"/>
                </a:solidFill>
                <a:latin typeface="Calibri"/>
              </a:rPr>
              <a:t>     from a ChromaDB vectorstore + contract-cost forecasts.</a:t>
            </a:r>
          </a:p>
          <a:p>
            <a:pPr algn="l"/>
            <a:r>
              <a:rPr sz="1200" b="0">
                <a:solidFill>
                  <a:srgbClr val="334455"/>
                </a:solidFill>
                <a:latin typeface="Calibri"/>
              </a:rPr>
              <a:t>     12 LLM calls running in parallel, ~13s end-to-end.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26280" y="1783080"/>
            <a:ext cx="3703320" cy="54864"/>
          </a:xfrm>
          <a:prstGeom prst="rect">
            <a:avLst/>
          </a:prstGeom>
          <a:solidFill>
            <a:srgbClr val="3A82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856231"/>
            <a:ext cx="37033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3A82CD"/>
                </a:solidFill>
                <a:latin typeface="Calibri"/>
              </a:rPr>
              <a:t>HOW —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2286000"/>
            <a:ext cx="3703320" cy="34290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Data ingest</a:t>
            </a:r>
          </a:p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    pybaseball · Spotrac · Statcast OAA + pop time</a:t>
            </a:r>
          </a:p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/>
            </a:r>
          </a:p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LLM routing (cost-disciplined)</a:t>
            </a:r>
          </a:p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    gpt-4o            — narrative reasoning</a:t>
            </a:r>
          </a:p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    gpt-4o-mini       — structured JSON output</a:t>
            </a:r>
          </a:p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    text-embedding-3-small — RAG retrieval</a:t>
            </a:r>
          </a:p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    Qwen 2.5 7B + LoRA  — fine-tune (eval only)</a:t>
            </a:r>
          </a:p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/>
            </a:r>
          </a:p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Storage</a:t>
            </a:r>
          </a:p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    ChromaDB persistent — 999 player profiles + 15 glossary entries</a:t>
            </a:r>
          </a:p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    1,254 contracts, no-look-ahead at every retrieval point</a:t>
            </a:r>
          </a:p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/>
            </a:r>
          </a:p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Build economics</a:t>
            </a:r>
          </a:p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    9-day end-to-end build · ~$47 total platform spend</a:t>
            </a:r>
          </a:p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    Three vendor constraints absorbed mid-build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95360" y="1783080"/>
            <a:ext cx="3703320" cy="54864"/>
          </a:xfrm>
          <a:prstGeom prst="rect">
            <a:avLst/>
          </a:prstGeom>
          <a:solidFill>
            <a:srgbClr val="3A82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0" y="1856231"/>
            <a:ext cx="37033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3A82CD"/>
                </a:solidFill>
                <a:latin typeface="Calibri"/>
              </a:rPr>
              <a:t>RESULTS — 9 pre-registered tests, 2 significant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2286000"/>
            <a:ext cx="37033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2E863E"/>
                </a:solidFill>
                <a:latin typeface="Calibri"/>
              </a:rPr>
              <a:t>RAG retrieval validated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2560320"/>
            <a:ext cx="370332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>
                <a:solidFill>
                  <a:srgbClr val="334455"/>
                </a:solidFill>
                <a:latin typeface="Calibri"/>
              </a:rPr>
              <a:t>+70 percentage-point accuracy gain on 20-question</a:t>
            </a:r>
          </a:p>
          <a:p>
            <a:pPr algn="l"/>
            <a:r>
              <a:rPr sz="1150" b="0">
                <a:solidFill>
                  <a:srgbClr val="334455"/>
                </a:solidFill>
                <a:latin typeface="Calibri"/>
              </a:rPr>
              <a:t>held-out set  ·  McNemar exact p = 0.0005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3154680"/>
            <a:ext cx="37033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2E863E"/>
                </a:solidFill>
                <a:latin typeface="Calibri"/>
              </a:rPr>
              <a:t>Position-level diagnostic validated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3429000"/>
            <a:ext cx="370332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>
                <a:solidFill>
                  <a:srgbClr val="334455"/>
                </a:solidFill>
                <a:latin typeface="Calibri"/>
              </a:rPr>
              <a:t>Flagged top-1 position underperforms next year</a:t>
            </a:r>
          </a:p>
          <a:p>
            <a:pPr algn="l"/>
            <a:r>
              <a:rPr sz="1150" b="0">
                <a:solidFill>
                  <a:srgbClr val="334455"/>
                </a:solidFill>
                <a:latin typeface="Calibri"/>
              </a:rPr>
              <a:t>59.9% overall (p=0.012)  ·  74.2% at 2B (p=0.011)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4023360"/>
            <a:ext cx="37033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C08C00"/>
                </a:solidFill>
                <a:latin typeface="Calibri"/>
              </a:rPr>
              <a:t>Honest null reported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4297680"/>
            <a:ext cx="3703320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>
                <a:solidFill>
                  <a:srgbClr val="334455"/>
                </a:solidFill>
                <a:latin typeface="Calibri"/>
              </a:rPr>
              <a:t>Gap_score does NOT predict next-year wins —</a:t>
            </a:r>
          </a:p>
          <a:p>
            <a:pPr algn="l"/>
            <a:r>
              <a:rPr sz="1150" b="0">
                <a:solidFill>
                  <a:srgbClr val="334455"/>
                </a:solidFill>
                <a:latin typeface="Calibri"/>
              </a:rPr>
              <a:t>loses to last-year-wins autocorrelation by ~5×.</a:t>
            </a:r>
          </a:p>
          <a:p>
            <a:pPr algn="l"/>
            <a:r>
              <a:rPr sz="1150" b="0">
                <a:solidFill>
                  <a:srgbClr val="334455"/>
                </a:solidFill>
                <a:latin typeface="Calibri"/>
              </a:rPr>
              <a:t>Five independent tests confirm. Reported plainly,</a:t>
            </a:r>
          </a:p>
          <a:p>
            <a:pPr algn="l"/>
            <a:r>
              <a:rPr sz="1150" b="0">
                <a:solidFill>
                  <a:srgbClr val="334455"/>
                </a:solidFill>
                <a:latin typeface="Calibri"/>
              </a:rPr>
              <a:t>not dressed up.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95360" y="5212080"/>
            <a:ext cx="3703320" cy="45720"/>
          </a:xfrm>
          <a:prstGeom prst="rect">
            <a:avLst/>
          </a:prstGeom>
          <a:solidFill>
            <a:srgbClr val="10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0" y="5321808"/>
            <a:ext cx="37033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102A55"/>
                </a:solidFill>
                <a:latin typeface="Calibri"/>
              </a:rPr>
              <a:t>Sabercast is a diagnostic + retrieval tool,</a:t>
            </a:r>
          </a:p>
          <a:p>
            <a:pPr algn="l"/>
            <a:r>
              <a:rPr sz="1200" b="1">
                <a:solidFill>
                  <a:srgbClr val="102A55"/>
                </a:solidFill>
                <a:latin typeface="Calibri"/>
              </a:rPr>
              <a:t>NOT a wins forecaster.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6126480"/>
            <a:ext cx="11277295" cy="22860"/>
          </a:xfrm>
          <a:prstGeom prst="rect">
            <a:avLst/>
          </a:prstGeom>
          <a:solidFill>
            <a:srgbClr val="3A82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19963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102A55"/>
                </a:solidFill>
                <a:latin typeface="Calibri"/>
              </a:rPr>
              <a:t>Live  ·  sabercast-mlb.streamlit.app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6199632"/>
            <a:ext cx="5790895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200" b="1">
                <a:solidFill>
                  <a:srgbClr val="102A55"/>
                </a:solidFill>
                <a:latin typeface="Calibri"/>
              </a:rPr>
              <a:t>Source · github.com/rwpeugh/sabercast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667080"/>
                </a:solidFill>
                <a:latin typeface="Calibri"/>
              </a:rPr>
              <a:t>MKTG 569 · Building Business Applications of LLMs and Generative Models · Spring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