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seball_diamo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08025"/>
            <a:ext cx="2834640" cy="2692908"/>
          </a:xfrm>
          <a:prstGeom prst="rect">
            <a:avLst/>
          </a:prstGeom>
        </p:spPr>
      </p:pic>
      <p:pic>
        <p:nvPicPr>
          <p:cNvPr id="4" name="Picture 3" descr="seam_st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82880"/>
            <a:ext cx="365760" cy="6492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74320"/>
            <a:ext cx="822960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4200" b="1" i="0">
                <a:solidFill>
                  <a:srgbClr val="102A55"/>
                </a:solidFill>
                <a:latin typeface="Calibri"/>
              </a:rPr>
              <a:t>Sabercast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0584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334455"/>
                </a:solidFill>
                <a:latin typeface="Calibri"/>
              </a:rPr>
              <a:t>From roster gaps to ranked free-agent targets — in 13 seconds.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98448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0" i="1">
                <a:solidFill>
                  <a:srgbClr val="667080"/>
                </a:solidFill>
                <a:latin typeface="Calibri"/>
              </a:rPr>
              <a:t>Plus lineup planning and series scouting. Built for small / mid-market MLB front offices needing analyst leverage without a 20-person R&amp;D shop.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27632"/>
            <a:ext cx="10835640" cy="22860"/>
          </a:xfrm>
          <a:prstGeom prst="rect">
            <a:avLst/>
          </a:prstGeom>
          <a:solidFill>
            <a:srgbClr val="3A8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2571750" cy="1051560"/>
          </a:xfrm>
          <a:prstGeom prst="roundRect">
            <a:avLst>
              <a:gd name="adj" fmla="val 10000"/>
            </a:avLst>
          </a:prstGeom>
          <a:solidFill>
            <a:srgbClr val="E8F4EA"/>
          </a:solidFill>
          <a:ln w="9525">
            <a:solidFill>
              <a:srgbClr val="2E8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74519"/>
            <a:ext cx="257175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800" b="1" i="0">
                <a:solidFill>
                  <a:srgbClr val="2E863E"/>
                </a:solidFill>
                <a:latin typeface="Calibri"/>
              </a:rPr>
              <a:t>13 sec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86584"/>
            <a:ext cx="257175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334455"/>
                </a:solidFill>
                <a:latin typeface="Calibri"/>
              </a:rPr>
              <a:t>Decisions in real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257175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 i="1">
                <a:solidFill>
                  <a:srgbClr val="667080"/>
                </a:solidFill>
                <a:latin typeface="Calibri"/>
              </a:rPr>
              <a:t>Use during trade calls, not after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0430" y="1783080"/>
            <a:ext cx="2571750" cy="1051560"/>
          </a:xfrm>
          <a:prstGeom prst="roundRect">
            <a:avLst>
              <a:gd name="adj" fmla="val 10000"/>
            </a:avLst>
          </a:prstGeom>
          <a:solidFill>
            <a:srgbClr val="E8F4EA"/>
          </a:solidFill>
          <a:ln w="9525">
            <a:solidFill>
              <a:srgbClr val="2E8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0430" y="1874519"/>
            <a:ext cx="257175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800" b="1" i="0">
                <a:solidFill>
                  <a:srgbClr val="2E863E"/>
                </a:solidFill>
                <a:latin typeface="Calibri"/>
              </a:rPr>
              <a:t>3.1×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0430" y="2386584"/>
            <a:ext cx="257175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334455"/>
                </a:solidFill>
                <a:latin typeface="Calibri"/>
              </a:rPr>
              <a:t>Better FA recommendations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0430" y="2587752"/>
            <a:ext cx="257175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 i="1">
                <a:solidFill>
                  <a:srgbClr val="667080"/>
                </a:solidFill>
                <a:latin typeface="Calibri"/>
              </a:rPr>
              <a:t>Top-10 surfaces players you'd consider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5060" y="1783080"/>
            <a:ext cx="2571750" cy="1051560"/>
          </a:xfrm>
          <a:prstGeom prst="roundRect">
            <a:avLst>
              <a:gd name="adj" fmla="val 10000"/>
            </a:avLst>
          </a:prstGeom>
          <a:solidFill>
            <a:srgbClr val="E8F4EA"/>
          </a:solidFill>
          <a:ln w="9525">
            <a:solidFill>
              <a:srgbClr val="2E8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5060" y="1874519"/>
            <a:ext cx="257175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800" b="1" i="0">
                <a:solidFill>
                  <a:srgbClr val="2E863E"/>
                </a:solidFill>
                <a:latin typeface="Calibri"/>
              </a:rPr>
              <a:t>1,254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5060" y="2386584"/>
            <a:ext cx="257175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334455"/>
                </a:solidFill>
                <a:latin typeface="Calibri"/>
              </a:rPr>
              <a:t>FA contracts indexed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5060" y="2587752"/>
            <a:ext cx="257175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 i="1">
                <a:solidFill>
                  <a:srgbClr val="667080"/>
                </a:solidFill>
                <a:latin typeface="Calibri"/>
              </a:rPr>
              <a:t>Pricing context for every position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49690" y="1783080"/>
            <a:ext cx="2571750" cy="1051560"/>
          </a:xfrm>
          <a:prstGeom prst="roundRect">
            <a:avLst>
              <a:gd name="adj" fmla="val 10000"/>
            </a:avLst>
          </a:prstGeom>
          <a:solidFill>
            <a:srgbClr val="E8F4EA"/>
          </a:solidFill>
          <a:ln w="9525">
            <a:solidFill>
              <a:srgbClr val="2E8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49690" y="1874519"/>
            <a:ext cx="257175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800" b="1" i="0">
                <a:solidFill>
                  <a:srgbClr val="2E863E"/>
                </a:solidFill>
                <a:latin typeface="Calibri"/>
              </a:rPr>
              <a:t>60%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9690" y="2386584"/>
            <a:ext cx="257175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334455"/>
                </a:solidFill>
                <a:latin typeface="Calibri"/>
              </a:rPr>
              <a:t>Validated gap diagnosis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9690" y="2587752"/>
            <a:ext cx="257175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 i="1">
                <a:solidFill>
                  <a:srgbClr val="667080"/>
                </a:solidFill>
                <a:latin typeface="Calibri"/>
              </a:rPr>
              <a:t>Up to 74% at specific positions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" y="3026664"/>
            <a:ext cx="6885432" cy="2313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3A8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3_top_gap_card_with_candida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1207" y="3063240"/>
            <a:ext cx="3301465" cy="22402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5800" y="5349240"/>
            <a:ext cx="68122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1">
                <a:solidFill>
                  <a:srgbClr val="667080"/>
                </a:solidFill>
                <a:latin typeface="Calibri"/>
              </a:rPr>
              <a:t>Position gap diagnosed  ·  3 free-agent targets ranked  ·  3 pricing comparables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3063240"/>
            <a:ext cx="37947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3A82CD"/>
                </a:solidFill>
                <a:latin typeface="Calibri"/>
              </a:rPr>
              <a:t>THREE GM-OFFICE JOBS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3310128"/>
            <a:ext cx="379476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334455"/>
                </a:solidFill>
                <a:latin typeface="Calibri"/>
              </a:rPr>
              <a:t>• Plan tonight's lineup vs. the opponent</a:t>
            </a:r>
          </a:p>
          <a:p>
            <a:pPr algn="l"/>
            <a:r>
              <a:rPr sz="1000" b="0" i="0">
                <a:solidFill>
                  <a:srgbClr val="334455"/>
                </a:solidFill>
                <a:latin typeface="Calibri"/>
              </a:rPr>
              <a:t>• Scout the team you're facing</a:t>
            </a:r>
          </a:p>
          <a:p>
            <a:pPr algn="l"/>
            <a:r>
              <a:rPr sz="1000" b="0" i="0">
                <a:solidFill>
                  <a:srgbClr val="334455"/>
                </a:solidFill>
                <a:latin typeface="Calibri"/>
              </a:rPr>
              <a:t>• Diagnose roster gaps + rank FA targets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3977639"/>
            <a:ext cx="37947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3A82CD"/>
                </a:solidFill>
                <a:latin typeface="Calibri"/>
              </a:rPr>
              <a:t>COMPLETE COVERAGE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4224528"/>
            <a:ext cx="379476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334455"/>
                </a:solidFill>
                <a:latin typeface="Calibri"/>
              </a:rPr>
              <a:t>All 30 MLB teams</a:t>
            </a:r>
          </a:p>
          <a:p>
            <a:pPr algn="l"/>
            <a:r>
              <a:rPr sz="1000" b="0" i="0">
                <a:solidFill>
                  <a:srgbClr val="334455"/>
                </a:solidFill>
                <a:latin typeface="Calibri"/>
              </a:rPr>
              <a:t>999 player profiles with Statcast</a:t>
            </a:r>
          </a:p>
          <a:p>
            <a:pPr algn="l"/>
            <a:r>
              <a:rPr sz="1000" b="0" i="0">
                <a:solidFill>
                  <a:srgbClr val="334455"/>
                </a:solidFill>
                <a:latin typeface="Calibri"/>
              </a:rPr>
              <a:t>5+ seasons of historical performance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4892040"/>
            <a:ext cx="37947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3A82CD"/>
                </a:solidFill>
                <a:latin typeface="Calibri"/>
              </a:rPr>
              <a:t>READY FOR YOUR WORKFLOW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5138928"/>
            <a:ext cx="3794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334455"/>
                </a:solidFill>
                <a:latin typeface="Calibri"/>
              </a:rPr>
              <a:t>Live web app  ·  no install  ·  try any team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5623560"/>
            <a:ext cx="10835640" cy="22860"/>
          </a:xfrm>
          <a:prstGeom prst="rect">
            <a:avLst/>
          </a:prstGeom>
          <a:solidFill>
            <a:srgbClr val="10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71500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02A55"/>
                </a:solidFill>
                <a:latin typeface="Calibri"/>
              </a:rPr>
              <a:t>Decision support — augments your analysts, doesn't replace them.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733288"/>
            <a:ext cx="51206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000" b="0" i="1">
                <a:solidFill>
                  <a:srgbClr val="667080"/>
                </a:solidFill>
                <a:latin typeface="Calibri"/>
              </a:rPr>
              <a:t>Every recommendation cites comparables  ·  diagnosis shows its confidence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35427" y="6126480"/>
            <a:ext cx="10515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02A55"/>
                </a:solidFill>
                <a:latin typeface="Calibri"/>
              </a:rPr>
              <a:t>Powered by</a:t>
            </a:r>
          </a:p>
        </p:txBody>
      </p:sp>
      <p:pic>
        <p:nvPicPr>
          <p:cNvPr id="38" name="Picture 37" descr="openai.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5627" y="6126480"/>
            <a:ext cx="365760" cy="365760"/>
          </a:xfrm>
          <a:prstGeom prst="rect">
            <a:avLst/>
          </a:prstGeom>
        </p:spPr>
      </p:pic>
      <p:pic>
        <p:nvPicPr>
          <p:cNvPr id="39" name="Picture 38" descr="together_ai.p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2907" y="6126480"/>
            <a:ext cx="365760" cy="365760"/>
          </a:xfrm>
          <a:prstGeom prst="rect">
            <a:avLst/>
          </a:prstGeom>
        </p:spPr>
      </p:pic>
      <p:pic>
        <p:nvPicPr>
          <p:cNvPr id="40" name="Picture 39" descr="chromad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1607" y="6126480"/>
            <a:ext cx="365760" cy="365760"/>
          </a:xfrm>
          <a:prstGeom prst="rect">
            <a:avLst/>
          </a:prstGeom>
        </p:spPr>
      </p:pic>
      <p:pic>
        <p:nvPicPr>
          <p:cNvPr id="41" name="Picture 40" descr="streamlit.p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1727" y="6126480"/>
            <a:ext cx="365760" cy="365760"/>
          </a:xfrm>
          <a:prstGeom prst="rect">
            <a:avLst/>
          </a:prstGeom>
        </p:spPr>
      </p:pic>
      <p:pic>
        <p:nvPicPr>
          <p:cNvPr id="42" name="Picture 41" descr="Baseball_Reference_Logo.sv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7547" y="6204108"/>
            <a:ext cx="1188720" cy="210502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685800" y="6537960"/>
            <a:ext cx="10835640" cy="13716"/>
          </a:xfrm>
          <a:prstGeom prst="rect">
            <a:avLst/>
          </a:prstGeom>
          <a:solidFill>
            <a:srgbClr val="667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6583680"/>
            <a:ext cx="5029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102A55"/>
                </a:solidFill>
                <a:latin typeface="Calibri"/>
              </a:rPr>
              <a:t>Try the live app  ·  sabercast-mlb.streamlit.app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6583680"/>
            <a:ext cx="2286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0" i="1">
                <a:solidFill>
                  <a:srgbClr val="667080"/>
                </a:solidFill>
                <a:latin typeface="Calibri"/>
              </a:rPr>
              <a:t>MKTG 569  ·  Spring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583680"/>
            <a:ext cx="46634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000" b="1" i="0">
                <a:solidFill>
                  <a:srgbClr val="102A55"/>
                </a:solidFill>
                <a:latin typeface="Calibri"/>
              </a:rPr>
              <a:t>github.com/rwpeugh/sabercast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