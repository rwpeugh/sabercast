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200" b="1">
                <a:solidFill>
                  <a:srgbClr val="102A55"/>
                </a:solidFill>
                <a:latin typeface="Calibri"/>
              </a:rPr>
              <a:t>Sabercast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430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334455"/>
                </a:solidFill>
                <a:latin typeface="Calibri"/>
              </a:rPr>
              <a:t>LLM-powered MLB front-office intelligence — built for small / mid-market clubs that need analyst leverage without a 20-person R&amp;D shop.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7295" cy="22860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83080"/>
            <a:ext cx="3703320" cy="54864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56231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3A82CD"/>
                </a:solidFill>
                <a:latin typeface="Calibri"/>
              </a:rPr>
              <a:t>WHAT — three front-office 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3703320" cy="3429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1.  Roster Builder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Day-to-day lineup construction vs. a chosen opponent.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One gpt-4o call → 9-slot lineup + matchup notes.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2.  Opponent Scouting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Narrative summary + top-3 threats + exploitable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weaknesses + pitching/hitting strategy.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3.  Gap Filler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Top-3 roster gaps + position-matched candidate targets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from a ChromaDB vectorstore + contract-cost forecasts.</a:t>
            </a:r>
          </a:p>
          <a:p>
            <a:pPr algn="l"/>
            <a:r>
              <a:rPr sz="1200" b="0">
                <a:solidFill>
                  <a:srgbClr val="334455"/>
                </a:solidFill>
                <a:latin typeface="Calibri"/>
              </a:rPr>
              <a:t>     12 LLM calls running in parallel, ~13s end-to-end.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1783080"/>
            <a:ext cx="3703320" cy="54864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56231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3A82CD"/>
                </a:solidFill>
                <a:latin typeface="Calibri"/>
              </a:rPr>
              <a:t>HOW —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286000"/>
            <a:ext cx="3703320" cy="3429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Data ingest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pybaseball · Spotrac · Statcast OAA + pop time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LLM routing (cost-disciplined)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gpt-4o            — narrative reasoning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gpt-4o-mini       — structured JSON output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text-embedding-3-small — RAG retrieval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Qwen 2.5 7B + LoRA  — fine-tune (eval only)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Storage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ChromaDB persistent — 999 player profiles + 15 glossary entries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1,254 contracts, no-look-ahead at every retrieval point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Build economics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9-day end-to-end build · ~$47 total platform spend</a:t>
            </a:r>
          </a:p>
          <a:p>
            <a:pPr algn="l"/>
            <a:r>
              <a:rPr sz="1100" b="0">
                <a:solidFill>
                  <a:srgbClr val="334455"/>
                </a:solidFill>
                <a:latin typeface="Calibri"/>
              </a:rPr>
              <a:t>    Three vendor constraints absorbed mid-build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783080"/>
            <a:ext cx="3703320" cy="54864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856231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3A82CD"/>
                </a:solidFill>
                <a:latin typeface="Calibri"/>
              </a:rPr>
              <a:t>RESULTS — 10 pre-registered tests, 4 significant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240280"/>
            <a:ext cx="37033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>
                <a:solidFill>
                  <a:srgbClr val="2E863E"/>
                </a:solidFill>
                <a:latin typeface="Calibri"/>
              </a:rPr>
              <a:t>RAG accuracy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468880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Calibri"/>
              </a:rPr>
              <a:t>+70 pp gain on 20 held-out questions</a:t>
            </a:r>
          </a:p>
          <a:p>
            <a:pPr algn="l"/>
            <a:r>
              <a:rPr sz="1050" b="0">
                <a:solidFill>
                  <a:srgbClr val="334455"/>
                </a:solidFill>
                <a:latin typeface="Calibri"/>
              </a:rPr>
              <a:t>McNemar p = 0.0005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926080"/>
            <a:ext cx="37033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>
                <a:solidFill>
                  <a:srgbClr val="2E863E"/>
                </a:solidFill>
                <a:latin typeface="Calibri"/>
              </a:rPr>
              <a:t>Player-matcher precision@10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154680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Calibri"/>
              </a:rPr>
              <a:t>41.9% vs 13.3% random (3.1× lift, n=43)</a:t>
            </a:r>
          </a:p>
          <a:p>
            <a:pPr algn="l"/>
            <a:r>
              <a:rPr sz="1050" b="0">
                <a:solidFill>
                  <a:srgbClr val="334455"/>
                </a:solidFill>
                <a:latin typeface="Calibri"/>
              </a:rPr>
              <a:t>z = 5.66, p &lt; 0.0001 — top-K finds actual signings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611880"/>
            <a:ext cx="37033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>
                <a:solidFill>
                  <a:srgbClr val="2E863E"/>
                </a:solidFill>
                <a:latin typeface="Calibri"/>
              </a:rPr>
              <a:t>Position-level diagnostic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840480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Calibri"/>
              </a:rPr>
              <a:t>Flagged position underperforms 59.9% overall</a:t>
            </a:r>
          </a:p>
          <a:p>
            <a:pPr algn="l"/>
            <a:r>
              <a:rPr sz="1050" b="0">
                <a:solidFill>
                  <a:srgbClr val="334455"/>
                </a:solidFill>
                <a:latin typeface="Calibri"/>
              </a:rPr>
              <a:t>(p=0.012)  ·  2B 74.2% (p=0.011)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297680"/>
            <a:ext cx="37033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>
                <a:solidFill>
                  <a:srgbClr val="C08C00"/>
                </a:solidFill>
                <a:latin typeface="Calibri"/>
              </a:rPr>
              <a:t>Honest null reported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526280"/>
            <a:ext cx="37033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Calibri"/>
              </a:rPr>
              <a:t>Gap_score does NOT predict next-year wins —</a:t>
            </a:r>
          </a:p>
          <a:p>
            <a:pPr algn="l"/>
            <a:r>
              <a:rPr sz="1050" b="0">
                <a:solidFill>
                  <a:srgbClr val="334455"/>
                </a:solidFill>
                <a:latin typeface="Calibri"/>
              </a:rPr>
              <a:t>loses to autocorrelation ~5×. Five independent</a:t>
            </a:r>
          </a:p>
          <a:p>
            <a:pPr algn="l"/>
            <a:r>
              <a:rPr sz="1050" b="0">
                <a:solidFill>
                  <a:srgbClr val="334455"/>
                </a:solidFill>
                <a:latin typeface="Calibri"/>
              </a:rPr>
              <a:t>tests confirm. Reported plainly, not dressed up.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5360" y="5166360"/>
            <a:ext cx="3703320" cy="45720"/>
          </a:xfrm>
          <a:prstGeom prst="rect">
            <a:avLst/>
          </a:prstGeom>
          <a:solidFill>
            <a:srgbClr val="10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5276088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02A55"/>
                </a:solidFill>
                <a:latin typeface="Calibri"/>
              </a:rPr>
              <a:t>Sabercast is a diagnostic + retrieval tool,</a:t>
            </a:r>
          </a:p>
          <a:p>
            <a:pPr algn="l"/>
            <a:r>
              <a:rPr sz="1200" b="1">
                <a:solidFill>
                  <a:srgbClr val="102A55"/>
                </a:solidFill>
                <a:latin typeface="Calibri"/>
              </a:rPr>
              <a:t>NOT a wins forecaster.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126480"/>
            <a:ext cx="11277295" cy="22860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19963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102A55"/>
                </a:solidFill>
                <a:latin typeface="Calibri"/>
              </a:rPr>
              <a:t>Live  ·  sabercast-mlb.streamlit.app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6199632"/>
            <a:ext cx="5790895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200" b="1">
                <a:solidFill>
                  <a:srgbClr val="102A55"/>
                </a:solidFill>
                <a:latin typeface="Calibri"/>
              </a:rPr>
              <a:t>Source · github.com/rwpeugh/sabercast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7080"/>
                </a:solidFill>
                <a:latin typeface="Calibri"/>
              </a:rPr>
              <a:t>MKTG 569 · Building Business Applications of LLMs and Generative Models ·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