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seball_diamo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208025"/>
            <a:ext cx="2834640" cy="2692908"/>
          </a:xfrm>
          <a:prstGeom prst="rect">
            <a:avLst/>
          </a:prstGeom>
        </p:spPr>
      </p:pic>
      <p:pic>
        <p:nvPicPr>
          <p:cNvPr id="4" name="Picture 3" descr="seam_str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182880"/>
            <a:ext cx="365760" cy="6492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274320"/>
            <a:ext cx="822960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4200" b="1" i="0">
                <a:solidFill>
                  <a:srgbClr val="102A55"/>
                </a:solidFill>
                <a:latin typeface="Calibri"/>
              </a:rPr>
              <a:t>Sabercast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82296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500" b="1" i="0">
                <a:solidFill>
                  <a:srgbClr val="334455"/>
                </a:solidFill>
                <a:latin typeface="Calibri"/>
              </a:rPr>
              <a:t>LLM-powered MLB front-office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98448"/>
            <a:ext cx="100584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0" i="1">
                <a:solidFill>
                  <a:srgbClr val="667080"/>
                </a:solidFill>
                <a:latin typeface="Calibri"/>
              </a:rPr>
              <a:t>Built for small / mid-market clubs that need analyst leverage without a 20-person R&amp;D shop.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627632"/>
            <a:ext cx="10835640" cy="22860"/>
          </a:xfrm>
          <a:prstGeom prst="rect">
            <a:avLst/>
          </a:prstGeom>
          <a:solidFill>
            <a:srgbClr val="3A8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2571750" cy="1051560"/>
          </a:xfrm>
          <a:prstGeom prst="roundRect">
            <a:avLst>
              <a:gd name="adj" fmla="val 10000"/>
            </a:avLst>
          </a:prstGeom>
          <a:solidFill>
            <a:srgbClr val="E8F4EA"/>
          </a:solidFill>
          <a:ln w="9525">
            <a:solidFill>
              <a:srgbClr val="2E8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74519"/>
            <a:ext cx="257175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2800" b="1" i="0">
                <a:solidFill>
                  <a:srgbClr val="2E863E"/>
                </a:solidFill>
                <a:latin typeface="Calibri"/>
              </a:rPr>
              <a:t>+70pp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386584"/>
            <a:ext cx="257175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334455"/>
                </a:solidFill>
                <a:latin typeface="Calibri"/>
              </a:rPr>
              <a:t>RAG accuracy lift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587752"/>
            <a:ext cx="257175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0" i="1">
                <a:solidFill>
                  <a:srgbClr val="667080"/>
                </a:solidFill>
                <a:latin typeface="Calibri"/>
              </a:rPr>
              <a:t>20 Qs · McNemar p=0.0005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0430" y="1783080"/>
            <a:ext cx="2571750" cy="1051560"/>
          </a:xfrm>
          <a:prstGeom prst="roundRect">
            <a:avLst>
              <a:gd name="adj" fmla="val 10000"/>
            </a:avLst>
          </a:prstGeom>
          <a:solidFill>
            <a:srgbClr val="E8F4EA"/>
          </a:solidFill>
          <a:ln w="9525">
            <a:solidFill>
              <a:srgbClr val="2E8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40430" y="1874519"/>
            <a:ext cx="257175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2800" b="1" i="0">
                <a:solidFill>
                  <a:srgbClr val="2E863E"/>
                </a:solidFill>
                <a:latin typeface="Calibri"/>
              </a:rPr>
              <a:t>3.1×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0430" y="2386584"/>
            <a:ext cx="257175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334455"/>
                </a:solidFill>
                <a:latin typeface="Calibri"/>
              </a:rPr>
              <a:t>Precision@10 vs random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0430" y="2587752"/>
            <a:ext cx="257175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0" i="1">
                <a:solidFill>
                  <a:srgbClr val="667080"/>
                </a:solidFill>
                <a:latin typeface="Calibri"/>
              </a:rPr>
              <a:t>n=43 · z=5.66 · p&lt;0.0001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5060" y="1783080"/>
            <a:ext cx="2571750" cy="1051560"/>
          </a:xfrm>
          <a:prstGeom prst="roundRect">
            <a:avLst>
              <a:gd name="adj" fmla="val 10000"/>
            </a:avLst>
          </a:prstGeom>
          <a:solidFill>
            <a:srgbClr val="E8F4EA"/>
          </a:solidFill>
          <a:ln w="9525">
            <a:solidFill>
              <a:srgbClr val="2E8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95060" y="1874519"/>
            <a:ext cx="257175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2800" b="1" i="0">
                <a:solidFill>
                  <a:srgbClr val="2E863E"/>
                </a:solidFill>
                <a:latin typeface="Calibri"/>
              </a:rPr>
              <a:t>59.9%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5060" y="2386584"/>
            <a:ext cx="257175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334455"/>
                </a:solidFill>
                <a:latin typeface="Calibri"/>
              </a:rPr>
              <a:t>Position hit-rate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5060" y="2587752"/>
            <a:ext cx="257175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0" i="1">
                <a:solidFill>
                  <a:srgbClr val="667080"/>
                </a:solidFill>
                <a:latin typeface="Calibri"/>
              </a:rPr>
              <a:t>p=0.012 · 2B 74% (p=0.011)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49690" y="1783080"/>
            <a:ext cx="2571750" cy="1051560"/>
          </a:xfrm>
          <a:prstGeom prst="roundRect">
            <a:avLst>
              <a:gd name="adj" fmla="val 10000"/>
            </a:avLst>
          </a:prstGeom>
          <a:solidFill>
            <a:srgbClr val="FBF3DC"/>
          </a:solidFill>
          <a:ln w="9525">
            <a:solidFill>
              <a:srgbClr val="C0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49690" y="1874519"/>
            <a:ext cx="257175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2800" b="1" i="0">
                <a:solidFill>
                  <a:srgbClr val="C08C00"/>
                </a:solidFill>
                <a:latin typeface="Calibri"/>
              </a:rPr>
              <a:t>4 /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49690" y="2386584"/>
            <a:ext cx="257175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334455"/>
                </a:solidFill>
                <a:latin typeface="Calibri"/>
              </a:rPr>
              <a:t>Significant findings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49690" y="2587752"/>
            <a:ext cx="257175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0" i="1">
                <a:solidFill>
                  <a:srgbClr val="667080"/>
                </a:solidFill>
                <a:latin typeface="Calibri"/>
              </a:rPr>
              <a:t>5 nulls reported honestly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" y="3026664"/>
            <a:ext cx="6885432" cy="23134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3A8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03_top_gap_card_with_candidat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1207" y="3063240"/>
            <a:ext cx="3301465" cy="22402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85800" y="5349240"/>
            <a:ext cx="68122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0" i="1">
                <a:solidFill>
                  <a:srgbClr val="667080"/>
                </a:solidFill>
                <a:latin typeface="Calibri"/>
              </a:rPr>
              <a:t>Live Gap Filler output — gap diagnosis + 3 recommended targets + pricing comparables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3063240"/>
            <a:ext cx="379476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50" b="1" i="0">
                <a:solidFill>
                  <a:srgbClr val="3A82CD"/>
                </a:solidFill>
                <a:latin typeface="Calibri"/>
              </a:rPr>
              <a:t>THREE WORKFLOWS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79" y="3310128"/>
            <a:ext cx="379476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334455"/>
                </a:solidFill>
                <a:latin typeface="Calibri"/>
              </a:rPr>
              <a:t>• Roster Builder — day-to-day lineup</a:t>
            </a:r>
          </a:p>
          <a:p>
            <a:pPr algn="l"/>
            <a:r>
              <a:rPr sz="1000" b="0" i="0">
                <a:solidFill>
                  <a:srgbClr val="334455"/>
                </a:solidFill>
                <a:latin typeface="Calibri"/>
              </a:rPr>
              <a:t>• Opponent Scouting — threats + plan</a:t>
            </a:r>
          </a:p>
          <a:p>
            <a:pPr algn="l"/>
            <a:r>
              <a:rPr sz="1000" b="0" i="0">
                <a:solidFill>
                  <a:srgbClr val="334455"/>
                </a:solidFill>
                <a:latin typeface="Calibri"/>
              </a:rPr>
              <a:t>• Gap Filler — diagnosis + RAG targets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79" y="3977639"/>
            <a:ext cx="379476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50" b="1" i="0">
                <a:solidFill>
                  <a:srgbClr val="3A82CD"/>
                </a:solidFill>
                <a:latin typeface="Calibri"/>
              </a:rPr>
              <a:t>DATA + LLM STACK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4224528"/>
            <a:ext cx="379476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334455"/>
                </a:solidFill>
                <a:latin typeface="Calibri"/>
              </a:rPr>
              <a:t>pybaseball · Spotrac · Statcast</a:t>
            </a:r>
          </a:p>
          <a:p>
            <a:pPr algn="l"/>
            <a:r>
              <a:rPr sz="1000" b="0" i="0">
                <a:solidFill>
                  <a:srgbClr val="334455"/>
                </a:solidFill>
                <a:latin typeface="Calibri"/>
              </a:rPr>
              <a:t>gpt-4o + 4o-mini · text-embed-3</a:t>
            </a:r>
          </a:p>
          <a:p>
            <a:pPr algn="l"/>
            <a:r>
              <a:rPr sz="1000" b="0" i="0">
                <a:solidFill>
                  <a:srgbClr val="334455"/>
                </a:solidFill>
                <a:latin typeface="Calibri"/>
              </a:rPr>
              <a:t>ChromaDB RAG (999 players)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4892040"/>
            <a:ext cx="379476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50" b="1" i="0">
                <a:solidFill>
                  <a:srgbClr val="3A82CD"/>
                </a:solidFill>
                <a:latin typeface="Calibri"/>
              </a:rPr>
              <a:t>BUILD ECONOMICS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5138928"/>
            <a:ext cx="3794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334455"/>
                </a:solidFill>
                <a:latin typeface="Calibri"/>
              </a:rPr>
              <a:t>9-day build  ·  ~$47 platform spend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5623560"/>
            <a:ext cx="10835640" cy="22860"/>
          </a:xfrm>
          <a:prstGeom prst="rect">
            <a:avLst/>
          </a:prstGeom>
          <a:solidFill>
            <a:srgbClr val="10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715000"/>
            <a:ext cx="68580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02A55"/>
                </a:solidFill>
                <a:latin typeface="Calibri"/>
              </a:rPr>
              <a:t>Diagnostic + retrieval tool — NOT a wins forecaster.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5733288"/>
            <a:ext cx="42062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1000" b="0" i="1">
                <a:solidFill>
                  <a:srgbClr val="667080"/>
                </a:solidFill>
                <a:latin typeface="Calibri"/>
              </a:rPr>
              <a:t>Five wins-prediction nulls reported plainly.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35427" y="6126480"/>
            <a:ext cx="105156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102A55"/>
                </a:solidFill>
                <a:latin typeface="Calibri"/>
              </a:rPr>
              <a:t>Powered by</a:t>
            </a:r>
          </a:p>
        </p:txBody>
      </p:sp>
      <p:pic>
        <p:nvPicPr>
          <p:cNvPr id="38" name="Picture 37" descr="openai.p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5627" y="6126480"/>
            <a:ext cx="365760" cy="365760"/>
          </a:xfrm>
          <a:prstGeom prst="rect">
            <a:avLst/>
          </a:prstGeom>
        </p:spPr>
      </p:pic>
      <p:pic>
        <p:nvPicPr>
          <p:cNvPr id="39" name="Picture 38" descr="together_ai.p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32907" y="6126480"/>
            <a:ext cx="365760" cy="365760"/>
          </a:xfrm>
          <a:prstGeom prst="rect">
            <a:avLst/>
          </a:prstGeom>
        </p:spPr>
      </p:pic>
      <p:pic>
        <p:nvPicPr>
          <p:cNvPr id="40" name="Picture 39" descr="chromad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1607" y="6126480"/>
            <a:ext cx="365760" cy="365760"/>
          </a:xfrm>
          <a:prstGeom prst="rect">
            <a:avLst/>
          </a:prstGeom>
        </p:spPr>
      </p:pic>
      <p:pic>
        <p:nvPicPr>
          <p:cNvPr id="41" name="Picture 40" descr="streamlit.pn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1727" y="6126480"/>
            <a:ext cx="365760" cy="365760"/>
          </a:xfrm>
          <a:prstGeom prst="rect">
            <a:avLst/>
          </a:prstGeom>
        </p:spPr>
      </p:pic>
      <p:pic>
        <p:nvPicPr>
          <p:cNvPr id="42" name="Picture 41" descr="Baseball_Reference_Logo.sv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7547" y="6204108"/>
            <a:ext cx="1188720" cy="210502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685800" y="6537960"/>
            <a:ext cx="10835640" cy="13716"/>
          </a:xfrm>
          <a:prstGeom prst="rect">
            <a:avLst/>
          </a:prstGeom>
          <a:solidFill>
            <a:srgbClr val="667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6583680"/>
            <a:ext cx="45720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102A55"/>
                </a:solidFill>
                <a:latin typeface="Calibri"/>
              </a:rPr>
              <a:t>Live  ·  sabercast-mlb.streamlit.app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0" y="6583680"/>
            <a:ext cx="22860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00" b="0" i="1">
                <a:solidFill>
                  <a:srgbClr val="667080"/>
                </a:solidFill>
                <a:latin typeface="Calibri"/>
              </a:rPr>
              <a:t>MKTG 569  ·  Spring 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6583680"/>
            <a:ext cx="46634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1000" b="1" i="0">
                <a:solidFill>
                  <a:srgbClr val="102A55"/>
                </a:solidFill>
                <a:latin typeface="Calibri"/>
              </a:rPr>
              <a:t>github.com/rwpeugh/sabercast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